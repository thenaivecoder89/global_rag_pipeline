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922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POC DATA - NOT FOR INVESTMENT DECISION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326880" y="64922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Helios | IC Submission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6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772400" y="-731520"/>
            <a:ext cx="5029200" cy="5029200"/>
          </a:xfrm>
          <a:prstGeom prst="arc">
            <a:avLst/>
          </a:prstGeom>
          <a:solidFill>
            <a:srgbClr val="2F7F7F">
              <a:alpha val="65000"/>
            </a:srgbClr>
          </a:solidFill>
          <a:ln w="12700">
            <a:solidFill>
              <a:srgbClr val="2F7F7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300000">
            <a:off x="8595360" y="2743200"/>
            <a:ext cx="3840480" cy="3840480"/>
          </a:xfrm>
          <a:prstGeom prst="arc">
            <a:avLst/>
          </a:prstGeom>
          <a:solidFill>
            <a:srgbClr val="70AD47">
              <a:alpha val="45000"/>
            </a:srgbClr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HELIOS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EAF7"/>
                </a:solidFill>
              </a:rPr>
              <a:t>Solar &amp; Storage Investment Committee Submission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250 MWac solar PV + 100 MW / 200 MWh BESS | Thailand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6035040" cy="0"/>
          </a:xfrm>
          <a:prstGeom prst="line">
            <a:avLst/>
          </a:prstGeom>
          <a:noFill/>
          <a:ln w="38100">
            <a:solidFill>
              <a:srgbClr val="70AD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57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SYNTHETIC POC DATA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June 2026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623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B183"/>
                </a:solidFill>
              </a:rPr>
              <a:t>All names, facts and figures are illustrative and not for investment decision-making.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recommendation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418320" y="475488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91472" y="5440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</a:rPr>
              <a:t>TRANSACTION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Approve progression to final documentation for an 80% controlling stake.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Strategic entry into Thailand solar-plus-storage with 70% contracted revenue.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Deck headline equity IRR: 14.6%; total project cost: USD 285m.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Key conditions: grid-cost confirmation, merchant-curve support and permit closure.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Transaction and governance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418320" y="475488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91472" y="5440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</a:rPr>
              <a:t>TRANSACTION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80% Group / 20% local development partner.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Three of five board seats and reserved-matter protections.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Enterprise value: USD 276m.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Development partner remains responsible for local execution through COD.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fit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418320" y="475488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91472" y="5440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</a:rPr>
              <a:t>TRANSACTION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Priority technology: utility-scale solar and storage.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Priority growth geography: Southeast Asia.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Creates optionality over two adjacent pipeline sites.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Portfolio concentration impact not quantified in this submission.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Asset and development status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418320" y="475488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91472" y="5440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</a:rPr>
              <a:t>ECONOMICS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435608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Solar capacity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04088" y="1737360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250 MWac / 320 MWp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19016" y="1298448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3608" y="1435608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BESS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28744" y="1737360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100 MW / 200 MWh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43672" y="1298448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08264" y="1435608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Deck COD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53400" y="1737360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30 Jun 2028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2551176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8952" y="2688336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Deck net capacity factor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" y="2990088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25.5%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19016" y="2551176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3608" y="2688336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Deck net generation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28744" y="2990088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558 GWh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3849624"/>
            <a:ext cx="105156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Core generation licence obtained.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Grid easements and two local construction permits remain open.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Single-wrap EPC contract under negotiation.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model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418320" y="475488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91472" y="5440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</a:rPr>
              <a:t>ECONOMICS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435608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Contracted share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04088" y="1737360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70%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19016" y="1298448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3608" y="1435608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Merchant share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28744" y="1737360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30%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43672" y="1298448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08264" y="1435608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Deck PPA price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53400" y="1737360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USD 60/MWh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2551176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8952" y="2688336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PPA term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" y="2990088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20 years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19016" y="2551176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3608" y="2688336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BESS revenue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28744" y="2990088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Capacity + shifting + ancillary services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3849624"/>
            <a:ext cx="105156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Independent merchant curve referenced but not appended.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Payment-security package remains under negotiation.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Financial returns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418320" y="475488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91472" y="5440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</a:rPr>
              <a:t>ECONOMICS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435608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Total project cost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04088" y="1737360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USD 285m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19016" y="1298448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3608" y="1435608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Project IRR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28744" y="1737360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10.4%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43672" y="1298448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08264" y="1435608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Equity IRR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53400" y="1737360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14.6%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2551176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8952" y="2688336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NPV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" y="2990088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USD 40m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19016" y="2551176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3608" y="2688336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Minimum DSCR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28744" y="2990088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1.35x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43672" y="2551176"/>
            <a:ext cx="352348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08264" y="2688336"/>
            <a:ext cx="3194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EV / EBITDA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53400" y="2990088"/>
            <a:ext cx="330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9.3x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9808" y="3849624"/>
            <a:ext cx="105156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Values shown are management headline figures.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Detailed workbook contains different values for selected metrics.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cost breakdown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418320" y="475488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91472" y="5440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</a:rPr>
              <a:t>ECONOMICS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2618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PV modules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63240" y="1280160"/>
            <a:ext cx="5943600" cy="210312"/>
          </a:xfrm>
          <a:prstGeom prst="rect">
            <a:avLst/>
          </a:prstGeom>
          <a:solidFill>
            <a:srgbClr val="2F7F7F"/>
          </a:solidFill>
          <a:ln w="12700">
            <a:solidFill>
              <a:srgbClr val="2F7F7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0" y="1261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365C"/>
                </a:solidFill>
              </a:rPr>
              <a:t>$72.0m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7007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BESS equipment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63240" y="1719072"/>
            <a:ext cx="4292600" cy="210312"/>
          </a:xfrm>
          <a:prstGeom prst="rect">
            <a:avLst/>
          </a:prstGeom>
          <a:solidFill>
            <a:srgbClr val="2F7F7F"/>
          </a:solidFill>
          <a:ln w="12700">
            <a:solidFill>
              <a:srgbClr val="2F7F7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0" y="1700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365C"/>
                </a:solidFill>
              </a:rPr>
              <a:t>$52.0m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1396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Balance of plant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63240" y="2157984"/>
            <a:ext cx="3302000" cy="210312"/>
          </a:xfrm>
          <a:prstGeom prst="rect">
            <a:avLst/>
          </a:prstGeom>
          <a:solidFill>
            <a:srgbClr val="2F7F7F"/>
          </a:solidFill>
          <a:ln w="12700">
            <a:solidFill>
              <a:srgbClr val="2F7F7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21396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365C"/>
                </a:solidFill>
              </a:rPr>
              <a:t>$40.0m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25786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Grid interconnection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63240" y="2596896"/>
            <a:ext cx="2063750" cy="210312"/>
          </a:xfrm>
          <a:prstGeom prst="rect">
            <a:avLst/>
          </a:prstGeom>
          <a:solidFill>
            <a:srgbClr val="1F4E78">
              <a:alpha val="88000"/>
            </a:srgbClr>
          </a:solidFill>
          <a:ln w="12700">
            <a:solidFill>
              <a:srgbClr val="1F4E7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2578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365C"/>
                </a:solidFill>
              </a:rPr>
              <a:t>$25.0m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3017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EPC contingency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63240" y="3035808"/>
            <a:ext cx="1485900" cy="210312"/>
          </a:xfrm>
          <a:prstGeom prst="rect">
            <a:avLst/>
          </a:prstGeom>
          <a:solidFill>
            <a:srgbClr val="1F4E78">
              <a:alpha val="88000"/>
            </a:srgbClr>
          </a:solidFill>
          <a:ln w="12700">
            <a:solidFill>
              <a:srgbClr val="1F4E7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301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365C"/>
                </a:solidFill>
              </a:rPr>
              <a:t>$18.0m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3456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Inverters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63240" y="3474720"/>
            <a:ext cx="1403350" cy="210312"/>
          </a:xfrm>
          <a:prstGeom prst="rect">
            <a:avLst/>
          </a:prstGeom>
          <a:solidFill>
            <a:srgbClr val="1F4E78">
              <a:alpha val="88000"/>
            </a:srgbClr>
          </a:solidFill>
          <a:ln w="12700">
            <a:solidFill>
              <a:srgbClr val="1F4E7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34564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365C"/>
                </a:solidFill>
              </a:rPr>
              <a:t>$17.0m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" y="38953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Civil works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63240" y="3913632"/>
            <a:ext cx="1073150" cy="210312"/>
          </a:xfrm>
          <a:prstGeom prst="rect">
            <a:avLst/>
          </a:prstGeom>
          <a:solidFill>
            <a:srgbClr val="1F4E78">
              <a:alpha val="88000"/>
            </a:srgbClr>
          </a:solidFill>
          <a:ln w="12700">
            <a:solidFill>
              <a:srgbClr val="1F4E7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3895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365C"/>
                </a:solidFill>
              </a:rPr>
              <a:t>$13.0m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43342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Corporate/platform overhead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63240" y="4352544"/>
            <a:ext cx="990600" cy="210312"/>
          </a:xfrm>
          <a:prstGeom prst="rect">
            <a:avLst/>
          </a:prstGeom>
          <a:solidFill>
            <a:srgbClr val="1F4E78">
              <a:alpha val="88000"/>
            </a:srgbClr>
          </a:solidFill>
          <a:ln w="12700">
            <a:solidFill>
              <a:srgbClr val="1F4E7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43342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365C"/>
                </a:solidFill>
              </a:rPr>
              <a:t>$12.0m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" y="4773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Development &amp; permitting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63240" y="4791456"/>
            <a:ext cx="660400" cy="210312"/>
          </a:xfrm>
          <a:prstGeom prst="rect">
            <a:avLst/>
          </a:prstGeom>
          <a:solidFill>
            <a:srgbClr val="1F4E78">
              <a:alpha val="88000"/>
            </a:srgbClr>
          </a:solidFill>
          <a:ln w="12700">
            <a:solidFill>
              <a:srgbClr val="1F4E7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365C"/>
                </a:solidFill>
              </a:rPr>
              <a:t>$8.0m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212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Land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063240" y="5230368"/>
            <a:ext cx="619125" cy="210312"/>
          </a:xfrm>
          <a:prstGeom prst="rect">
            <a:avLst/>
          </a:prstGeom>
          <a:solidFill>
            <a:srgbClr val="1F4E78">
              <a:alpha val="88000"/>
            </a:srgbClr>
          </a:solidFill>
          <a:ln w="12700">
            <a:solidFill>
              <a:srgbClr val="1F4E7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5212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365C"/>
                </a:solidFill>
              </a:rPr>
              <a:t>$7.5m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8160" y="4800600"/>
            <a:ext cx="33832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120" dirty="0">
                <a:solidFill>
                  <a:srgbClr val="1F2937"/>
                </a:solidFill>
              </a:rPr>
              <a:t>BESS equipment, grid connection and contingency are the largest challenge areas.</a:t>
            </a:r>
            <a:endParaRPr lang="en-US" sz="1120" dirty="0"/>
          </a:p>
          <a:p>
            <a:pPr marL="228600" indent="-228600">
              <a:buSzPct val="100000"/>
              <a:buChar char="•"/>
            </a:pPr>
            <a:r>
              <a:rPr lang="en-US" sz="1120" dirty="0">
                <a:solidFill>
                  <a:srgbClr val="1F2937"/>
                </a:solidFill>
              </a:rPr>
              <a:t>Advisory and overhead scopes require consolidation review.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Financing plan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418320" y="475488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91472" y="5440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</a:rPr>
              <a:t>RISK REVIEW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259232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435608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Senior debt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04088" y="1737360"/>
            <a:ext cx="237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65% of cost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7852" y="1298448"/>
            <a:ext cx="259232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52444" y="1435608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Equity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97580" y="1737360"/>
            <a:ext cx="237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35% of cost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81344" y="1298448"/>
            <a:ext cx="259232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45936" y="1435608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Interest rate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91072" y="1737360"/>
            <a:ext cx="237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6.4%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74836" y="1298448"/>
            <a:ext cx="259232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39428" y="1435608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Debt tenor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084564" y="1737360"/>
            <a:ext cx="237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15 years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2596896"/>
            <a:ext cx="105156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Hedging to be executed at financial close.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Debt term sheet remains indicative.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Sensitivity results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418320" y="475488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91472" y="5440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</a:rPr>
              <a:t>RISK REVIEW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259232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435608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Merchant price -15%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04088" y="1737360"/>
            <a:ext cx="237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12.2% equity IRR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7852" y="1298448"/>
            <a:ext cx="259232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52444" y="1435608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Generation -5%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97580" y="1737360"/>
            <a:ext cx="237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12.6% equity IRR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81344" y="1298448"/>
            <a:ext cx="259232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45936" y="1435608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Capex +10%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91072" y="1737360"/>
            <a:ext cx="237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11.8% equity IRR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74836" y="1298448"/>
            <a:ext cx="259232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C9D8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39428" y="1435608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COD delay 6 months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084564" y="1737360"/>
            <a:ext cx="237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65C"/>
                </a:solidFill>
              </a:rPr>
              <a:t>11.9% equity IRR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2596896"/>
            <a:ext cx="105156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Combined downside not shown.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Battery augmentation sensitivity not shown.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Principal risks and mitigants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418320" y="475488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91472" y="5440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</a:rPr>
              <a:t>RISK REVIEW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0972800" cy="4434840"/>
        </p:xfrm>
        <a:graphic>
          <a:graphicData uri="http://schemas.openxmlformats.org/drawingml/2006/table">
            <a:tbl>
              <a:tblPr/>
              <a:tblGrid>
                <a:gridCol w="2377440"/>
                <a:gridCol w="1417320"/>
                <a:gridCol w="7178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Rating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 / status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Grid cost / schedule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Utility design review and contingency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Merchant exposure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Medium-high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70% contracted revenue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BESS degradation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Medium-high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Warranty; augmentation not modelled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Offtaker credit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Payment security under discussion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Land / permitting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 easements and permits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Cybersecurity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assessed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dedicated assessment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1325880"/>
            <a:ext cx="10972800" cy="502920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14721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Risk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44952" y="14721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62272" y="1472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Mitigation / status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and conditions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418320" y="475488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91472" y="5440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</a:rPr>
              <a:t>DECISION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Approve progression, subject to metric reconciliation across all documents.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Obtain independent merchant-price and offtaker-credit support.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Run combined downside and BESS augmentation sensitivities.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Cap grid, overhead and advisory costs.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Close land, permit, cyber and decommissioning actions.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Synthetic POC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Helios Solar &amp; Storage</dc:title>
  <dc:subject>Synthetic Investment Committee Submission</dc:subject>
  <dc:creator>OpenAI - synthetic POC dataset</dc:creator>
  <cp:lastModifiedBy>OpenAI - synthetic POC dataset</cp:lastModifiedBy>
  <cp:revision>1</cp:revision>
  <dcterms:created xsi:type="dcterms:W3CDTF">2026-06-11T07:14:12Z</dcterms:created>
  <dcterms:modified xsi:type="dcterms:W3CDTF">2026-06-11T07:14:12Z</dcterms:modified>
</cp:coreProperties>
</file>